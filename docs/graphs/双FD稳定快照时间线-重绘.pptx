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4fc7035ee74825" /><Relationship Type="http://schemas.openxmlformats.org/officeDocument/2006/relationships/extended-properties" Target="/docProps/app.xml" Id="R50547c05cacd4bc3" /><Relationship Type="http://schemas.openxmlformats.org/officeDocument/2006/relationships/officeDocument" Target="/ppt/presentation.xml" Id="R9807121c22bc46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ab81e9e5364c22"/>
  </p:sldMasterIdLst>
  <p:notesMasterIdLst>
    <p:notesMasterId xmlns:r="http://schemas.openxmlformats.org/officeDocument/2006/relationships" r:id="R91808e5960b44c12"/>
  </p:notesMasterIdLst>
  <p:sldIdLst>
    <p:sldId xmlns:r="http://schemas.openxmlformats.org/officeDocument/2006/relationships" id="256" r:id="R70f0d5cd3dc846b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890fdc36a5141c5" /><Relationship Type="http://schemas.openxmlformats.org/officeDocument/2006/relationships/slideMaster" Target="/ppt/slideMasters/slideMaster1.xml" Id="Rf0ab81e9e5364c22" /><Relationship Type="http://schemas.openxmlformats.org/officeDocument/2006/relationships/notesMaster" Target="/ppt/notesMasters/notesMaster1.xml" Id="R91808e5960b44c12" /><Relationship Type="http://schemas.openxmlformats.org/officeDocument/2006/relationships/presProps" Target="/ppt/presProps.xml" Id="Re817d2d0b8144bed" /><Relationship Type="http://schemas.openxmlformats.org/officeDocument/2006/relationships/tableStyles" Target="/ppt/tableStyles.xml" Id="Rc71b78e5222a4e47" /><Relationship Type="http://schemas.openxmlformats.org/officeDocument/2006/relationships/slide" Target="/ppt/slides/slide1.xml" Id="R70f0d5cd3dc846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795296ea604db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b1081624e84c68" /><Relationship Type="http://schemas.openxmlformats.org/officeDocument/2006/relationships/notesMaster" Target="/ppt/notesMasters/notesMaster1.xml" Id="Rfeebbde0e00341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8c3890516040a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44269cf80c40ae" /><Relationship Type="http://schemas.openxmlformats.org/officeDocument/2006/relationships/slideLayout" Target="/ppt/slideLayouts/slideLayout1.xml" Id="Rad587a338c1840a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587a338c1840a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ad091eb0ec436f" /><Relationship Type="http://schemas.openxmlformats.org/officeDocument/2006/relationships/notesSlide" Target="/ppt/notesSlides/notesSlide1.xml" Id="R27f3693ae97142b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CF6AC8B4-970B-43E3-A667-375FB818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638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47625" rIns="0" bIns="47625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B4D"/>
                </a:solidFill>
              </a:defRPr>
            </a:pPr>
            <a:r>
              <a:rPr sz="3000" b="1">
                <a:solidFill>
                  <a:srgbClr val="172B4D"/>
                </a:solidFill>
              </a:rPr>
              <a:t>双 FD 稳定快照时间线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2EB5BC3-4481-4814-AA73-1BDFCED53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885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47625" rIns="0" bIns="47625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A607A"/>
                </a:solidFill>
              </a:defRPr>
            </a:pPr>
            <a:r>
              <a:rPr sz="1425" b="0">
                <a:solidFill>
                  <a:srgbClr val="4A607A"/>
                </a:solidFill>
              </a:rPr>
              <a:t>写入发布不会改写已开始的读取；每个 FD 持有自己的稳定快照。</a:t>
            </a:r>
          </a:p>
        </p:txBody>
      </p:sp>
      <p:sp>
        <p:nvSpPr>
          <p:cNvPr id="3" name="principle">
            <a:extLst xmlns:a="http://schemas.openxmlformats.org/drawingml/2006/main">
              <a:ext uri="{FF2B5EF4-FFF2-40B4-BE49-F238E27FC236}">
                <a16:creationId xmlns:a16="http://schemas.microsoft.com/office/drawing/2014/main" id="{90D37B9B-2ACF-4231-B5EF-E7D3929C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57200"/>
            <a:ext cx="27813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9525">
            <a:solidFill>
              <a:srgbClr val="B8CAE3"/>
            </a:solidFill>
            <a:prstDash val="solid"/>
          </a:ln>
        </p:spPr>
        <p:txBody>
          <a:bodyPr xmlns:a="http://schemas.openxmlformats.org/drawingml/2006/main" lIns="95250" tIns="47625" rIns="95250" bIns="47625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B4D"/>
                </a:solidFill>
              </a:defRPr>
            </a:pPr>
            <a:r>
              <a:rPr sz="1200" b="1">
                <a:solidFill>
                  <a:srgbClr val="172B4D"/>
                </a:solidFill>
              </a:rPr>
              <a:t>每个 FD 独立持有 read snapshot</a:t>
            </a:r>
          </a:p>
        </p:txBody>
      </p:sp>
      <p:sp>
        <p:nvSpPr>
          <p:cNvPr id="4" name="lane-a-band">
            <a:extLst xmlns:a="http://schemas.openxmlformats.org/drawingml/2006/main">
              <a:ext uri="{FF2B5EF4-FFF2-40B4-BE49-F238E27FC236}">
                <a16:creationId xmlns:a16="http://schemas.microsoft.com/office/drawing/2014/main" id="{60784159-E339-4467-BA28-DEC5C1CDF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790700"/>
            <a:ext cx="101727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BEE"/>
          </a:solidFill>
          <a:ln xmlns:a="http://schemas.openxmlformats.org/drawingml/2006/main" w="9525">
            <a:solidFill>
              <a:srgbClr val="D8E2EF"/>
            </a:solidFill>
            <a:prstDash val="solid"/>
          </a:ln>
        </p:spPr>
      </p:sp>
      <p:sp>
        <p:nvSpPr>
          <p:cNvPr id="5" name="lane-b-band">
            <a:extLst xmlns:a="http://schemas.openxmlformats.org/drawingml/2006/main">
              <a:ext uri="{FF2B5EF4-FFF2-40B4-BE49-F238E27FC236}">
                <a16:creationId xmlns:a16="http://schemas.microsoft.com/office/drawing/2014/main" id="{44AE4458-54A1-4E26-AF45-43084440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105150"/>
            <a:ext cx="101727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5EF"/>
          </a:solidFill>
          <a:ln xmlns:a="http://schemas.openxmlformats.org/drawingml/2006/main" w="9525">
            <a:solidFill>
              <a:srgbClr val="D8E2EF"/>
            </a:solidFill>
            <a:prstDash val="solid"/>
          </a:ln>
        </p:spPr>
      </p:sp>
      <p:sp>
        <p:nvSpPr>
          <p:cNvPr id="6" name="lane-c-band">
            <a:extLst xmlns:a="http://schemas.openxmlformats.org/drawingml/2006/main">
              <a:ext uri="{FF2B5EF4-FFF2-40B4-BE49-F238E27FC236}">
                <a16:creationId xmlns:a16="http://schemas.microsoft.com/office/drawing/2014/main" id="{95CD46F5-0F70-4E33-9C26-4E00DE12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19600"/>
            <a:ext cx="101727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4FAEF"/>
          </a:solidFill>
          <a:ln xmlns:a="http://schemas.openxmlformats.org/drawingml/2006/main" w="9525">
            <a:solidFill>
              <a:srgbClr val="D8E2EF"/>
            </a:solidFill>
            <a:prstDash val="solid"/>
          </a:ln>
        </p:spPr>
      </p:sp>
      <p:sp>
        <p:nvSpPr>
          <p:cNvPr id="7" name="a-line-start">
            <a:extLst xmlns:a="http://schemas.openxmlformats.org/drawingml/2006/main">
              <a:ext uri="{FF2B5EF4-FFF2-40B4-BE49-F238E27FC236}">
                <a16:creationId xmlns:a16="http://schemas.microsoft.com/office/drawing/2014/main" id="{C519282B-0205-4E1A-BBC8-18CE88692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3145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a-line-end">
            <a:extLst xmlns:a="http://schemas.openxmlformats.org/drawingml/2006/main">
              <a:ext uri="{FF2B5EF4-FFF2-40B4-BE49-F238E27FC236}">
                <a16:creationId xmlns:a16="http://schemas.microsoft.com/office/drawing/2014/main" id="{11DBB5F3-5EDD-4FE7-B771-94E2C222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145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cxnSp>
        <p:nvCxnSpPr>
          <p:cNvPr id="50" name=""/>
          <p:cNvCxnSpPr>
            <a:stCxn xmlns:a="http://schemas.openxmlformats.org/drawingml/2006/main" id="7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4057650" y="2324100"/>
            <a:ext cx="47434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F5EA8"/>
            </a:solidFill>
            <a:prstDash val="solid"/>
            <a:tailEnd type="triangle" w="sm" len="sm"/>
          </a:ln>
        </p:spPr>
      </p:cxnSp>
      <p:sp>
        <p:nvSpPr>
          <p:cNvPr id="10" name="b-line-start">
            <a:extLst xmlns:a="http://schemas.openxmlformats.org/drawingml/2006/main">
              <a:ext uri="{FF2B5EF4-FFF2-40B4-BE49-F238E27FC236}">
                <a16:creationId xmlns:a16="http://schemas.microsoft.com/office/drawing/2014/main" id="{DB06D6C5-1471-4B33-84F9-558D4D57D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6290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b-line-end">
            <a:extLst xmlns:a="http://schemas.openxmlformats.org/drawingml/2006/main">
              <a:ext uri="{FF2B5EF4-FFF2-40B4-BE49-F238E27FC236}">
                <a16:creationId xmlns:a16="http://schemas.microsoft.com/office/drawing/2014/main" id="{47AE8745-978E-4004-BA1E-0E923724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290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cxnSp>
        <p:nvCxnSpPr>
          <p:cNvPr id="53" name=""/>
          <p:cNvCxnSpPr>
            <a:stCxn xmlns:a="http://schemas.openxmlformats.org/drawingml/2006/main" id="10" idx="6"/>
            <a:endCxn xmlns:a="http://schemas.openxmlformats.org/drawingml/2006/main" id="11" idx="2"/>
          </p:cNvCxnSpPr>
          <p:nvPr/>
        </p:nvCxnSpPr>
        <p:spPr>
          <a:xfrm xmlns:a="http://schemas.openxmlformats.org/drawingml/2006/main">
            <a:off x="5334000" y="3638550"/>
            <a:ext cx="8001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F5EA8"/>
            </a:solidFill>
            <a:prstDash val="solid"/>
            <a:tailEnd type="triangle" w="sm" len="sm"/>
          </a:ln>
        </p:spPr>
      </p:cxnSp>
      <p:sp>
        <p:nvSpPr>
          <p:cNvPr id="13" name="c-line-start">
            <a:extLst xmlns:a="http://schemas.openxmlformats.org/drawingml/2006/main">
              <a:ext uri="{FF2B5EF4-FFF2-40B4-BE49-F238E27FC236}">
                <a16:creationId xmlns:a16="http://schemas.microsoft.com/office/drawing/2014/main" id="{17820469-D9BA-4E6B-A97A-28E0A787B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9434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c-line-end">
            <a:extLst xmlns:a="http://schemas.openxmlformats.org/drawingml/2006/main">
              <a:ext uri="{FF2B5EF4-FFF2-40B4-BE49-F238E27FC236}">
                <a16:creationId xmlns:a16="http://schemas.microsoft.com/office/drawing/2014/main" id="{B65076A7-3773-4DBE-BE8A-E3FF28459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9434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cxnSp>
        <p:nvCxnSpPr>
          <p:cNvPr id="56" name=""/>
          <p:cNvCxnSpPr>
            <a:stCxn xmlns:a="http://schemas.openxmlformats.org/drawingml/2006/main" id="13" idx="6"/>
            <a:endCxn xmlns:a="http://schemas.openxmlformats.org/drawingml/2006/main" id="14" idx="2"/>
          </p:cNvCxnSpPr>
          <p:nvPr/>
        </p:nvCxnSpPr>
        <p:spPr>
          <a:xfrm xmlns:a="http://schemas.openxmlformats.org/drawingml/2006/main">
            <a:off x="9772650" y="49530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F5EA8"/>
            </a:solidFill>
            <a:prstDash val="solid"/>
            <a:tailEnd type="triangle" w="sm" len="sm"/>
          </a:ln>
        </p:spPr>
      </p:cxnSp>
      <p:sp>
        <p:nvSpPr>
          <p:cNvPr id="16" name="commit-top-start">
            <a:extLst xmlns:a="http://schemas.openxmlformats.org/drawingml/2006/main">
              <a:ext uri="{FF2B5EF4-FFF2-40B4-BE49-F238E27FC236}">
                <a16:creationId xmlns:a16="http://schemas.microsoft.com/office/drawing/2014/main" id="{FFDBDEC5-0C70-4C7D-8FB9-3370E7AD8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18097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commit-top-end">
            <a:extLst xmlns:a="http://schemas.openxmlformats.org/drawingml/2006/main">
              <a:ext uri="{FF2B5EF4-FFF2-40B4-BE49-F238E27FC236}">
                <a16:creationId xmlns:a16="http://schemas.microsoft.com/office/drawing/2014/main" id="{9811A453-C2A5-4AA5-ADF1-A744EC75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2670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cxnSp>
        <p:nvCxnSpPr>
          <p:cNvPr id="59" name=""/>
          <p:cNvCxnSpPr>
            <a:stCxn xmlns:a="http://schemas.openxmlformats.org/drawingml/2006/main" id="16" idx="4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7239000" y="1828800"/>
            <a:ext cx="0" cy="1438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07A48"/>
            </a:solidFill>
            <a:prstDash val="dash"/>
          </a:ln>
        </p:spPr>
      </p:cxnSp>
      <p:sp>
        <p:nvSpPr>
          <p:cNvPr id="19" name="commit-bottom-start">
            <a:extLst xmlns:a="http://schemas.openxmlformats.org/drawingml/2006/main">
              <a:ext uri="{FF2B5EF4-FFF2-40B4-BE49-F238E27FC236}">
                <a16:creationId xmlns:a16="http://schemas.microsoft.com/office/drawing/2014/main" id="{BD6A0986-27CD-4C50-A9B3-D6AE2AFC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0100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commit-bottom-end">
            <a:extLst xmlns:a="http://schemas.openxmlformats.org/drawingml/2006/main">
              <a:ext uri="{FF2B5EF4-FFF2-40B4-BE49-F238E27FC236}">
                <a16:creationId xmlns:a16="http://schemas.microsoft.com/office/drawing/2014/main" id="{CB3AF165-3A22-466B-A22D-01B6BEB34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5657850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cxnSp>
        <p:nvCxnSpPr>
          <p:cNvPr id="62" name=""/>
          <p:cNvCxnSpPr>
            <a:stCxn xmlns:a="http://schemas.openxmlformats.org/drawingml/2006/main" id="19" idx="4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7239000" y="4029075"/>
            <a:ext cx="0" cy="16287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07A48"/>
            </a:solidFill>
            <a:prstDash val="dash"/>
          </a:ln>
        </p:spPr>
      </p:cxnSp>
      <p:sp>
        <p:nvSpPr>
          <p:cNvPr id="22" name="time-start">
            <a:extLst xmlns:a="http://schemas.openxmlformats.org/drawingml/2006/main">
              <a:ext uri="{FF2B5EF4-FFF2-40B4-BE49-F238E27FC236}">
                <a16:creationId xmlns:a16="http://schemas.microsoft.com/office/drawing/2014/main" id="{7B992274-5E2C-4AB2-8855-9687B738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1055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time-end">
            <a:extLst xmlns:a="http://schemas.openxmlformats.org/drawingml/2006/main">
              <a:ext uri="{FF2B5EF4-FFF2-40B4-BE49-F238E27FC236}">
                <a16:creationId xmlns:a16="http://schemas.microsoft.com/office/drawing/2014/main" id="{CB85941B-456D-4282-96B3-E9E490989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61055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cxnSp>
        <p:nvCxnSpPr>
          <p:cNvPr id="65" name=""/>
          <p:cNvCxnSpPr>
            <a:stCxn xmlns:a="http://schemas.openxmlformats.org/drawingml/2006/main" id="22" idx="6"/>
            <a:endCxn xmlns:a="http://schemas.openxmlformats.org/drawingml/2006/main" id="23" idx="2"/>
          </p:cNvCxnSpPr>
          <p:nvPr/>
        </p:nvCxnSpPr>
        <p:spPr>
          <a:xfrm xmlns:a="http://schemas.openxmlformats.org/drawingml/2006/main">
            <a:off x="1638300" y="6115050"/>
            <a:ext cx="99250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F5EA8"/>
            </a:solidFill>
            <a:prstDash val="solid"/>
            <a:tailEnd type="triangle" w="sm" len="sm"/>
          </a:ln>
        </p:spPr>
      </p:cxnSp>
      <p:sp>
        <p:nvSpPr>
          <p:cNvPr id="25" name="commit-label">
            <a:extLst xmlns:a="http://schemas.openxmlformats.org/drawingml/2006/main">
              <a:ext uri="{FF2B5EF4-FFF2-40B4-BE49-F238E27FC236}">
                <a16:creationId xmlns:a16="http://schemas.microsoft.com/office/drawing/2014/main" id="{21D65BD1-407F-41B5-B3E0-F7923855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09700"/>
            <a:ext cx="2095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2E9"/>
          </a:solidFill>
          <a:ln xmlns:a="http://schemas.openxmlformats.org/drawingml/2006/main" w="9525">
            <a:solidFill>
              <a:srgbClr val="E6B28F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A65326"/>
                </a:solidFill>
              </a:defRPr>
            </a:pPr>
            <a:r>
              <a:rPr sz="1200" b="1">
                <a:solidFill>
                  <a:srgbClr val="A65326"/>
                </a:solidFill>
              </a:rPr>
              <a:t>发布点：version 10 → 11</a:t>
            </a:r>
          </a:p>
        </p:txBody>
      </p:sp>
      <p:sp>
        <p:nvSpPr>
          <p:cNvPr id="26" name="lane-a">
            <a:extLst xmlns:a="http://schemas.openxmlformats.org/drawingml/2006/main">
              <a:ext uri="{FF2B5EF4-FFF2-40B4-BE49-F238E27FC236}">
                <a16:creationId xmlns:a16="http://schemas.microsoft.com/office/drawing/2014/main" id="{1753FF74-8EED-4E91-99F7-1A77DE0EB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38350"/>
            <a:ext cx="8763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1C9"/>
          </a:solidFill>
          <a:ln xmlns:a="http://schemas.openxmlformats.org/drawingml/2006/main" w="19050">
            <a:solidFill>
              <a:srgbClr val="2F5EA8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B4D"/>
                </a:solidFill>
              </a:defRPr>
            </a:pPr>
            <a:r>
              <a:rPr sz="1800" b="1">
                <a:solidFill>
                  <a:srgbClr val="172B4D"/>
                </a:solidFill>
              </a:rPr>
              <a:t>FD A</a:t>
            </a:r>
          </a:p>
        </p:txBody>
      </p:sp>
      <p:sp>
        <p:nvSpPr>
          <p:cNvPr id="27" name="lane-b">
            <a:extLst xmlns:a="http://schemas.openxmlformats.org/drawingml/2006/main">
              <a:ext uri="{FF2B5EF4-FFF2-40B4-BE49-F238E27FC236}">
                <a16:creationId xmlns:a16="http://schemas.microsoft.com/office/drawing/2014/main" id="{D0ADF2B8-0E8C-4CD5-AB38-A8930A9F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52800"/>
            <a:ext cx="8763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CE3D5"/>
          </a:solidFill>
          <a:ln xmlns:a="http://schemas.openxmlformats.org/drawingml/2006/main" w="19050">
            <a:solidFill>
              <a:srgbClr val="2F5EA8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B4D"/>
                </a:solidFill>
              </a:defRPr>
            </a:pPr>
            <a:r>
              <a:rPr sz="1800" b="1">
                <a:solidFill>
                  <a:srgbClr val="172B4D"/>
                </a:solidFill>
              </a:rPr>
              <a:t>FD B</a:t>
            </a:r>
          </a:p>
        </p:txBody>
      </p:sp>
      <p:sp>
        <p:nvSpPr>
          <p:cNvPr id="28" name="lane-c">
            <a:extLst xmlns:a="http://schemas.openxmlformats.org/drawingml/2006/main">
              <a:ext uri="{FF2B5EF4-FFF2-40B4-BE49-F238E27FC236}">
                <a16:creationId xmlns:a16="http://schemas.microsoft.com/office/drawing/2014/main" id="{7740E60F-CE6F-45F3-8A2D-CD66F523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67250"/>
            <a:ext cx="1066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1F0D7"/>
          </a:solidFill>
          <a:ln xmlns:a="http://schemas.openxmlformats.org/drawingml/2006/main" w="19050">
            <a:solidFill>
              <a:srgbClr val="2F5EA8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B4D"/>
                </a:solidFill>
              </a:defRPr>
            </a:pPr>
            <a:r>
              <a:rPr sz="1575" b="1">
                <a:solidFill>
                  <a:srgbClr val="172B4D"/>
                </a:solidFill>
              </a:rPr>
              <a:t>新 FD C</a:t>
            </a:r>
          </a:p>
        </p:txBody>
      </p:sp>
      <p:sp>
        <p:nvSpPr>
          <p:cNvPr id="29" name="a-capture">
            <a:extLst xmlns:a="http://schemas.openxmlformats.org/drawingml/2006/main">
              <a:ext uri="{FF2B5EF4-FFF2-40B4-BE49-F238E27FC236}">
                <a16:creationId xmlns:a16="http://schemas.microsoft.com/office/drawing/2014/main" id="{9FA5F573-BD5D-4547-925D-93E08679C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971675"/>
            <a:ext cx="21145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1C9"/>
          </a:solidFill>
          <a:ln xmlns:a="http://schemas.openxmlformats.org/drawingml/2006/main" w="19050">
            <a:solidFill>
              <a:srgbClr val="2F5EA8"/>
            </a:solidFill>
            <a:prstDash val="solid"/>
          </a:ln>
        </p:spPr>
        <p:txBody>
          <a:bodyPr xmlns:a="http://schemas.openxmlformats.org/drawingml/2006/main" lIns="114300" tIns="47625" rIns="114300" bIns="47625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B4D"/>
                </a:solidFill>
              </a:defRPr>
            </a:pPr>
            <a:r>
              <a:rPr sz="1425" b="0">
                <a:solidFill>
                  <a:srgbClr val="172B4D"/>
                </a:solidFill>
              </a:rPr>
              <a:t>捕获 version 10</a:t>
            </a:r>
          </a:p>
          <a:p xmlns:a="http://schemas.openxmlformats.org/drawingml/2006/main">
            <a:pPr algn="ctr">
              <a:defRPr sz="1425" b="0">
                <a:solidFill>
                  <a:srgbClr val="172B4D"/>
                </a:solidFill>
              </a:defRPr>
            </a:pPr>
            <a:r>
              <a:rPr sz="1425" b="0">
                <a:solidFill>
                  <a:srgbClr val="172B4D"/>
                </a:solidFill>
              </a:rPr>
              <a:t>开始读取</a:t>
            </a:r>
          </a:p>
        </p:txBody>
      </p:sp>
      <p:sp>
        <p:nvSpPr>
          <p:cNvPr id="30" name="a-snapshot-label">
            <a:extLst xmlns:a="http://schemas.openxmlformats.org/drawingml/2006/main">
              <a:ext uri="{FF2B5EF4-FFF2-40B4-BE49-F238E27FC236}">
                <a16:creationId xmlns:a16="http://schemas.microsoft.com/office/drawing/2014/main" id="{9C7EEBF2-9A1F-4FFA-8035-FEC23ED93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885950"/>
            <a:ext cx="2381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18B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0551D"/>
                </a:solidFill>
              </a:defRPr>
            </a:pPr>
            <a:r>
              <a:rPr sz="1200" b="1">
                <a:solidFill>
                  <a:srgbClr val="70551D"/>
                </a:solidFill>
              </a:rPr>
              <a:t>固定快照始终是 version 10</a:t>
            </a:r>
          </a:p>
        </p:txBody>
      </p:sp>
      <p:sp>
        <p:nvSpPr>
          <p:cNvPr id="31" name="a-complete">
            <a:extLst xmlns:a="http://schemas.openxmlformats.org/drawingml/2006/main">
              <a:ext uri="{FF2B5EF4-FFF2-40B4-BE49-F238E27FC236}">
                <a16:creationId xmlns:a16="http://schemas.microsoft.com/office/drawing/2014/main" id="{04F02BF3-3968-44F7-8AF3-4604C2416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971675"/>
            <a:ext cx="26098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1C9"/>
          </a:solidFill>
          <a:ln xmlns:a="http://schemas.openxmlformats.org/drawingml/2006/main" w="19050">
            <a:solidFill>
              <a:srgbClr val="2F5EA8"/>
            </a:solidFill>
            <a:prstDash val="solid"/>
          </a:ln>
        </p:spPr>
        <p:txBody>
          <a:bodyPr xmlns:a="http://schemas.openxmlformats.org/drawingml/2006/main" lIns="114300" tIns="47625" rIns="114300" bIns="47625" anchor="ctr"/>
          <a:lstStyle xmlns:a="http://schemas.openxmlformats.org/drawingml/2006/main"/>
          <a:p xmlns:a="http://schemas.openxmlformats.org/drawingml/2006/main">
            <a:pPr algn="ctr">
              <a:defRPr sz="1388" b="0">
                <a:solidFill>
                  <a:srgbClr val="172B4D"/>
                </a:solidFill>
              </a:defRPr>
            </a:pPr>
            <a:r>
              <a:rPr sz="1388" b="0">
                <a:solidFill>
                  <a:srgbClr val="172B4D"/>
                </a:solidFill>
              </a:rPr>
              <a:t>读取完成</a:t>
            </a:r>
          </a:p>
          <a:p xmlns:a="http://schemas.openxmlformats.org/drawingml/2006/main">
            <a:pPr algn="ctr">
              <a:defRPr sz="1388" b="0">
                <a:solidFill>
                  <a:srgbClr val="172B4D"/>
                </a:solidFill>
              </a:defRPr>
            </a:pPr>
            <a:r>
              <a:rPr sz="1388" b="0">
                <a:solidFill>
                  <a:srgbClr val="172B4D"/>
                </a:solidFill>
              </a:rPr>
              <a:t>仍是完整 version 10</a:t>
            </a:r>
          </a:p>
        </p:txBody>
      </p:sp>
      <p:sp>
        <p:nvSpPr>
          <p:cNvPr id="32" name="b-write">
            <a:extLst xmlns:a="http://schemas.openxmlformats.org/drawingml/2006/main">
              <a:ext uri="{FF2B5EF4-FFF2-40B4-BE49-F238E27FC236}">
                <a16:creationId xmlns:a16="http://schemas.microsoft.com/office/drawing/2014/main" id="{279A4671-6A93-4F8B-BFFA-C8DB35C6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86125"/>
            <a:ext cx="2171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CE3D5"/>
          </a:solidFill>
          <a:ln xmlns:a="http://schemas.openxmlformats.org/drawingml/2006/main" w="19050">
            <a:solidFill>
              <a:srgbClr val="2F5EA8"/>
            </a:solidFill>
            <a:prstDash val="solid"/>
          </a:ln>
        </p:spPr>
        <p:txBody>
          <a:bodyPr xmlns:a="http://schemas.openxmlformats.org/drawingml/2006/main" lIns="114300" tIns="47625" rIns="114300" bIns="47625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构建候选状态</a:t>
            </a:r>
          </a:p>
          <a:p xmlns:a="http://schemas.openxmlformats.org/drawingml/2006/main">
            <a:pPr algn="ctr"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完成写入校验</a:t>
            </a:r>
          </a:p>
        </p:txBody>
      </p:sp>
      <p:sp>
        <p:nvSpPr>
          <p:cNvPr id="33" name="b-publish">
            <a:extLst xmlns:a="http://schemas.openxmlformats.org/drawingml/2006/main">
              <a:ext uri="{FF2B5EF4-FFF2-40B4-BE49-F238E27FC236}">
                <a16:creationId xmlns:a16="http://schemas.microsoft.com/office/drawing/2014/main" id="{68910601-D139-48B7-8EDD-5E27D7CD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86125"/>
            <a:ext cx="2190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AD8C3"/>
          </a:solidFill>
          <a:ln xmlns:a="http://schemas.openxmlformats.org/drawingml/2006/main" w="19050">
            <a:solidFill>
              <a:srgbClr val="2F5EA8"/>
            </a:solidFill>
            <a:prstDash val="solid"/>
          </a:ln>
        </p:spPr>
        <p:txBody>
          <a:bodyPr xmlns:a="http://schemas.openxmlformats.org/drawingml/2006/main" lIns="114300" tIns="47625" rIns="114300" bIns="47625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同一 mutex 原子提交</a:t>
            </a:r>
          </a:p>
          <a:p xmlns:a="http://schemas.openxmlformats.org/drawingml/2006/main">
            <a:pPr algn="ctr"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发布 version 11</a:t>
            </a:r>
          </a:p>
        </p:txBody>
      </p:sp>
      <p:sp>
        <p:nvSpPr>
          <p:cNvPr id="34" name="b-note">
            <a:extLst xmlns:a="http://schemas.openxmlformats.org/drawingml/2006/main">
              <a:ext uri="{FF2B5EF4-FFF2-40B4-BE49-F238E27FC236}">
                <a16:creationId xmlns:a16="http://schemas.microsoft.com/office/drawing/2014/main" id="{3475B3C2-1205-4138-88E6-1017D66A3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381375"/>
            <a:ext cx="23622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C7B0"/>
            </a:solidFill>
            <a:prstDash val="solid"/>
          </a:ln>
        </p:spPr>
        <p:txBody>
          <a:bodyPr xmlns:a="http://schemas.openxmlformats.org/drawingml/2006/main" lIns="95250" tIns="47625" rIns="95250" bIns="47625" anchor="ctr"/>
          <a:lstStyle xmlns:a="http://schemas.openxmlformats.org/drawingml/2006/main"/>
          <a:p xmlns:a="http://schemas.openxmlformats.org/drawingml/2006/main">
            <a:pPr algn="ctr">
              <a:defRPr sz="1238" b="0">
                <a:solidFill>
                  <a:srgbClr val="6B4B39"/>
                </a:solidFill>
              </a:defRPr>
            </a:pPr>
            <a:r>
              <a:rPr sz="1238" b="0">
                <a:solidFill>
                  <a:srgbClr val="6B4B39"/>
                </a:solidFill>
              </a:rPr>
              <a:t>只更新全局发布状态</a:t>
            </a:r>
          </a:p>
          <a:p xmlns:a="http://schemas.openxmlformats.org/drawingml/2006/main">
            <a:pPr algn="ctr">
              <a:defRPr sz="1238" b="0">
                <a:solidFill>
                  <a:srgbClr val="6B4B39"/>
                </a:solidFill>
              </a:defRPr>
            </a:pPr>
            <a:r>
              <a:rPr sz="1238" b="0">
                <a:solidFill>
                  <a:srgbClr val="6B4B39"/>
                </a:solidFill>
              </a:rPr>
              <a:t>不修改 FD A 的快照</a:t>
            </a:r>
          </a:p>
        </p:txBody>
      </p:sp>
      <p:sp>
        <p:nvSpPr>
          <p:cNvPr id="35" name="c-open">
            <a:extLst xmlns:a="http://schemas.openxmlformats.org/drawingml/2006/main">
              <a:ext uri="{FF2B5EF4-FFF2-40B4-BE49-F238E27FC236}">
                <a16:creationId xmlns:a16="http://schemas.microsoft.com/office/drawing/2014/main" id="{9E9FC3E0-114B-4D95-9319-8E9E234AB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600575"/>
            <a:ext cx="1905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1F0D7"/>
          </a:solidFill>
          <a:ln xmlns:a="http://schemas.openxmlformats.org/drawingml/2006/main" w="19050">
            <a:solidFill>
              <a:srgbClr val="2F5EA8"/>
            </a:solidFill>
            <a:prstDash val="solid"/>
          </a:ln>
        </p:spPr>
        <p:txBody>
          <a:bodyPr xmlns:a="http://schemas.openxmlformats.org/drawingml/2006/main" lIns="114300" tIns="47625" rIns="114300" bIns="47625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提交后打开</a:t>
            </a:r>
          </a:p>
          <a:p xmlns:a="http://schemas.openxmlformats.org/drawingml/2006/main">
            <a:pPr algn="ctr"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捕获 version 11</a:t>
            </a:r>
          </a:p>
        </p:txBody>
      </p:sp>
      <p:sp>
        <p:nvSpPr>
          <p:cNvPr id="36" name="c-read">
            <a:extLst xmlns:a="http://schemas.openxmlformats.org/drawingml/2006/main">
              <a:ext uri="{FF2B5EF4-FFF2-40B4-BE49-F238E27FC236}">
                <a16:creationId xmlns:a16="http://schemas.microsoft.com/office/drawing/2014/main" id="{1FACF5F4-0FBF-42B6-93AA-18D928A7F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600575"/>
            <a:ext cx="13716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1F0D7"/>
          </a:solidFill>
          <a:ln xmlns:a="http://schemas.openxmlformats.org/drawingml/2006/main" w="19050">
            <a:solidFill>
              <a:srgbClr val="2F5EA8"/>
            </a:solidFill>
            <a:prstDash val="solid"/>
          </a:ln>
        </p:spPr>
        <p:txBody>
          <a:bodyPr xmlns:a="http://schemas.openxmlformats.org/drawingml/2006/main" lIns="114300" tIns="47625" rIns="114300" bIns="47625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读取</a:t>
            </a:r>
          </a:p>
          <a:p xmlns:a="http://schemas.openxmlformats.org/drawingml/2006/main">
            <a:pPr algn="ctr"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version 11</a:t>
            </a:r>
          </a:p>
        </p:txBody>
      </p:sp>
      <p:sp>
        <p:nvSpPr>
          <p:cNvPr id="37" name="published-v10">
            <a:extLst xmlns:a="http://schemas.openxmlformats.org/drawingml/2006/main">
              <a:ext uri="{FF2B5EF4-FFF2-40B4-BE49-F238E27FC236}">
                <a16:creationId xmlns:a16="http://schemas.microsoft.com/office/drawing/2014/main" id="{96FF92E6-0F97-4936-B819-85691D1B2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7340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47625" rIns="95250" bIns="47625" anchor="ctr"/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5B6F87"/>
                </a:solidFill>
              </a:defRPr>
            </a:pPr>
            <a:r>
              <a:rPr sz="1163" b="0">
                <a:solidFill>
                  <a:srgbClr val="5B6F87"/>
                </a:solidFill>
              </a:rPr>
              <a:t>已发布状态：version 10</a:t>
            </a:r>
          </a:p>
        </p:txBody>
      </p:sp>
      <p:sp>
        <p:nvSpPr>
          <p:cNvPr id="38" name="published-v11">
            <a:extLst xmlns:a="http://schemas.openxmlformats.org/drawingml/2006/main">
              <a:ext uri="{FF2B5EF4-FFF2-40B4-BE49-F238E27FC236}">
                <a16:creationId xmlns:a16="http://schemas.microsoft.com/office/drawing/2014/main" id="{4FB311FE-909D-4690-BE1E-3F558968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7340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47625" rIns="95250" bIns="47625" anchor="ctr"/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5B6F87"/>
                </a:solidFill>
              </a:defRPr>
            </a:pPr>
            <a:r>
              <a:rPr sz="1163" b="0">
                <a:solidFill>
                  <a:srgbClr val="5B6F87"/>
                </a:solidFill>
              </a:rPr>
              <a:t>已发布状态：version 11</a:t>
            </a:r>
          </a:p>
        </p:txBody>
      </p:sp>
      <p:sp>
        <p:nvSpPr>
          <p:cNvPr id="39" name="early">
            <a:extLst xmlns:a="http://schemas.openxmlformats.org/drawingml/2006/main">
              <a:ext uri="{FF2B5EF4-FFF2-40B4-BE49-F238E27FC236}">
                <a16:creationId xmlns:a16="http://schemas.microsoft.com/office/drawing/2014/main" id="{B682CFAA-F0D1-4041-8D50-8A600C8B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191250"/>
            <a:ext cx="76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47625" rIns="0" bIns="47625" anchor="ctr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71849A"/>
                </a:solidFill>
              </a:defRPr>
            </a:pPr>
            <a:r>
              <a:rPr sz="1088" b="0">
                <a:solidFill>
                  <a:srgbClr val="71849A"/>
                </a:solidFill>
              </a:rPr>
              <a:t>较早</a:t>
            </a:r>
          </a:p>
        </p:txBody>
      </p:sp>
      <p:sp>
        <p:nvSpPr>
          <p:cNvPr id="40" name="late">
            <a:extLst xmlns:a="http://schemas.openxmlformats.org/drawingml/2006/main">
              <a:ext uri="{FF2B5EF4-FFF2-40B4-BE49-F238E27FC236}">
                <a16:creationId xmlns:a16="http://schemas.microsoft.com/office/drawing/2014/main" id="{BB82E955-9344-4E1B-8905-F40BB751D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76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47625" rIns="0" bIns="47625" anchor="ctr"/>
          <a:lstStyle xmlns:a="http://schemas.openxmlformats.org/drawingml/2006/main"/>
          <a:p xmlns:a="http://schemas.openxmlformats.org/drawingml/2006/main">
            <a:pPr algn="r">
              <a:defRPr sz="1088" b="0">
                <a:solidFill>
                  <a:srgbClr val="71849A"/>
                </a:solidFill>
              </a:defRPr>
            </a:pPr>
            <a:r>
              <a:rPr sz="1088" b="0">
                <a:solidFill>
                  <a:srgbClr val="71849A"/>
                </a:solidFill>
              </a:rPr>
              <a:t>较晚</a:t>
            </a:r>
          </a:p>
        </p:txBody>
      </p:sp>
      <p:sp>
        <p:nvSpPr>
          <p:cNvPr id="41" name="takeaway">
            <a:extLst xmlns:a="http://schemas.openxmlformats.org/drawingml/2006/main">
              <a:ext uri="{FF2B5EF4-FFF2-40B4-BE49-F238E27FC236}">
                <a16:creationId xmlns:a16="http://schemas.microsoft.com/office/drawing/2014/main" id="{F9B1C92D-E0BE-49CF-9033-983AFE1B6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6276975"/>
            <a:ext cx="3905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47625" rIns="0" bIns="47625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4B70"/>
                </a:solidFill>
              </a:defRPr>
            </a:pPr>
            <a:r>
              <a:rPr sz="1275" b="1">
                <a:solidFill>
                  <a:srgbClr val="2F4B70"/>
                </a:solidFill>
              </a:rPr>
              <a:t>写入改变未来快照，不撕裂正在进行的读取</a:t>
            </a:r>
          </a:p>
        </p:txBody>
      </p:sp>
    </p:spTree>
    <p:extLst>
      <p:ext uri="{BB962C8B-B14F-4D97-AF65-F5344CB8AC3E}">
        <p14:creationId xmlns:p14="http://schemas.microsoft.com/office/powerpoint/2010/main" val="15212967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2026-07-13T06:24:52.1120000Z</dcterms:created>
  <dcterms:modified xsi:type="dcterms:W3CDTF">2026-07-13T06:24:52.1120000Z</dcterms:modified>
</coreProperties>
</file>