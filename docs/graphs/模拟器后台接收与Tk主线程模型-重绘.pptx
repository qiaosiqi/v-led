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32c4aa5ef24d94" /><Relationship Type="http://schemas.openxmlformats.org/officeDocument/2006/relationships/extended-properties" Target="/docProps/app.xml" Id="R415157c9037b42b9" /><Relationship Type="http://schemas.openxmlformats.org/officeDocument/2006/relationships/officeDocument" Target="/ppt/presentation.xml" Id="R57851710632549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d3de510a4a4374"/>
  </p:sldMasterIdLst>
  <p:notesMasterIdLst>
    <p:notesMasterId xmlns:r="http://schemas.openxmlformats.org/officeDocument/2006/relationships" r:id="R56dd4382378648c8"/>
  </p:notesMasterIdLst>
  <p:sldIdLst>
    <p:sldId xmlns:r="http://schemas.openxmlformats.org/officeDocument/2006/relationships" id="256" r:id="Rd513fdbcbe9542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6ac69f17e24bf9" /><Relationship Type="http://schemas.openxmlformats.org/officeDocument/2006/relationships/slideMaster" Target="/ppt/slideMasters/slideMaster1.xml" Id="R7fd3de510a4a4374" /><Relationship Type="http://schemas.openxmlformats.org/officeDocument/2006/relationships/notesMaster" Target="/ppt/notesMasters/notesMaster1.xml" Id="R56dd4382378648c8" /><Relationship Type="http://schemas.openxmlformats.org/officeDocument/2006/relationships/presProps" Target="/ppt/presProps.xml" Id="R4320b9face2f4b83" /><Relationship Type="http://schemas.openxmlformats.org/officeDocument/2006/relationships/tableStyles" Target="/ppt/tableStyles.xml" Id="Rf633c95e49c74907" /><Relationship Type="http://schemas.openxmlformats.org/officeDocument/2006/relationships/slide" Target="/ppt/slides/slide1.xml" Id="Rd513fdbcbe9542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353478539540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c64b64f5f44e95" /><Relationship Type="http://schemas.openxmlformats.org/officeDocument/2006/relationships/notesMaster" Target="/ppt/notesMasters/notesMaster1.xml" Id="Ra79bda0a790a44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435384aa44d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fb9b23e2404c02" /><Relationship Type="http://schemas.openxmlformats.org/officeDocument/2006/relationships/slideLayout" Target="/ppt/slideLayouts/slideLayout1.xml" Id="R690f5bfdea704e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0f5bfdea704e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02fa1dc15849d7" /><Relationship Type="http://schemas.openxmlformats.org/officeDocument/2006/relationships/notesSlide" Target="/ppt/notesSlides/notesSlide1.xml" Id="R6592a4b6998d42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">
            <a:extLst xmlns:a="http://schemas.openxmlformats.org/drawingml/2006/main">
              <a:ext uri="{FF2B5EF4-FFF2-40B4-BE49-F238E27FC236}">
                <a16:creationId xmlns:a16="http://schemas.microsoft.com/office/drawing/2014/main" id="{774106B3-8A50-4424-B3C6-31CF7C40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B4D"/>
                </a:solidFill>
              </a:defRPr>
            </a:pPr>
            <a:r>
              <a:rPr sz="3000" b="1">
                <a:solidFill>
                  <a:srgbClr val="172B4D"/>
                </a:solidFill>
              </a:rPr>
              <a:t>模拟器后台接收与 Tk 主线程模型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6C07914-E5F2-47CD-BC7A-F9A7B874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A607A"/>
                </a:solidFill>
              </a:defRPr>
            </a:pPr>
            <a:r>
              <a:rPr sz="1425" b="0">
                <a:solidFill>
                  <a:srgbClr val="4A607A"/>
                </a:solidFill>
              </a:rPr>
              <a:t>网络线程只生成事件；所有状态变换与界面更新都回到 Tk 主线程执行。</a:t>
            </a:r>
          </a:p>
        </p:txBody>
      </p:sp>
      <p:sp>
        <p:nvSpPr>
          <p:cNvPr id="3" name="tk-rule">
            <a:extLst xmlns:a="http://schemas.openxmlformats.org/drawingml/2006/main">
              <a:ext uri="{FF2B5EF4-FFF2-40B4-BE49-F238E27FC236}">
                <a16:creationId xmlns:a16="http://schemas.microsoft.com/office/drawing/2014/main" id="{43325109-87EA-4071-A507-8474DA7D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7200"/>
            <a:ext cx="27813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4FB"/>
          </a:solidFill>
          <a:ln xmlns:a="http://schemas.openxmlformats.org/drawingml/2006/main" w="9525">
            <a:solidFill>
              <a:srgbClr val="B8CAE3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2B4D"/>
                </a:solidFill>
              </a:defRPr>
            </a:pPr>
            <a:r>
              <a:rPr sz="1200" b="1">
                <a:solidFill>
                  <a:srgbClr val="172B4D"/>
                </a:solidFill>
              </a:rPr>
              <a:t>Tk 控件只能由主线程访问</a:t>
            </a:r>
          </a:p>
        </p:txBody>
      </p:sp>
      <p:sp>
        <p:nvSpPr>
          <p:cNvPr id="4" name="enqueue-start">
            <a:extLst xmlns:a="http://schemas.openxmlformats.org/drawingml/2006/main">
              <a:ext uri="{FF2B5EF4-FFF2-40B4-BE49-F238E27FC236}">
                <a16:creationId xmlns:a16="http://schemas.microsoft.com/office/drawing/2014/main" id="{858A89D0-7339-42F3-B7CC-7611F451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476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enqueue-end">
            <a:extLst xmlns:a="http://schemas.openxmlformats.org/drawingml/2006/main">
              <a:ext uri="{FF2B5EF4-FFF2-40B4-BE49-F238E27FC236}">
                <a16:creationId xmlns:a16="http://schemas.microsoft.com/office/drawing/2014/main" id="{080B35AB-E1A5-4577-BDF0-4332D494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30" name=""/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3829050" y="34861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>
            <a:solidFill>
              <a:srgbClr val="2F5EA8"/>
            </a:solidFill>
            <a:prstDash val="solid"/>
            <a:tailEnd type="triangle" w="sm" len="sm"/>
          </a:ln>
        </p:spPr>
      </p:cxnSp>
      <p:sp>
        <p:nvSpPr>
          <p:cNvPr id="7" name="drain-start">
            <a:extLst xmlns:a="http://schemas.openxmlformats.org/drawingml/2006/main">
              <a:ext uri="{FF2B5EF4-FFF2-40B4-BE49-F238E27FC236}">
                <a16:creationId xmlns:a16="http://schemas.microsoft.com/office/drawing/2014/main" id="{931776F5-0623-49AA-8214-843DCBFA3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76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drain-end">
            <a:extLst xmlns:a="http://schemas.openxmlformats.org/drawingml/2006/main">
              <a:ext uri="{FF2B5EF4-FFF2-40B4-BE49-F238E27FC236}">
                <a16:creationId xmlns:a16="http://schemas.microsoft.com/office/drawing/2014/main" id="{A608A5DC-284C-43FF-B1AC-C9C08501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cxnSp>
        <p:nvCxnSpPr>
          <p:cNvPr id="33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7067550" y="3486150"/>
            <a:ext cx="933450" cy="0"/>
          </a:xfrm>
          <a:prstGeom xmlns:a="http://schemas.openxmlformats.org/drawingml/2006/main" prst="straightConnector1">
            <a:avLst/>
          </a:prstGeom>
          <a:ln xmlns:a="http://schemas.openxmlformats.org/drawingml/2006/main" w="26194">
            <a:solidFill>
              <a:srgbClr val="2F5EA8"/>
            </a:solidFill>
            <a:prstDash val="solid"/>
            <a:tailEnd type="triangle" w="sm" len="sm"/>
          </a:ln>
        </p:spPr>
      </p:cxnSp>
      <p:sp>
        <p:nvSpPr>
          <p:cNvPr id="10" name="udp-worker-card">
            <a:extLst xmlns:a="http://schemas.openxmlformats.org/drawingml/2006/main">
              <a:ext uri="{FF2B5EF4-FFF2-40B4-BE49-F238E27FC236}">
                <a16:creationId xmlns:a16="http://schemas.microsoft.com/office/drawing/2014/main" id="{2F03089A-B268-418D-BCA6-4EB79A2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76450"/>
            <a:ext cx="32385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DCEAF7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</p:sp>
      <p:sp>
        <p:nvSpPr>
          <p:cNvPr id="11" name="queue-card">
            <a:extLst xmlns:a="http://schemas.openxmlformats.org/drawingml/2006/main">
              <a:ext uri="{FF2B5EF4-FFF2-40B4-BE49-F238E27FC236}">
                <a16:creationId xmlns:a16="http://schemas.microsoft.com/office/drawing/2014/main" id="{14B3979F-F904-467F-B45C-7956902C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86050"/>
            <a:ext cx="228600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1C9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</p:sp>
      <p:sp>
        <p:nvSpPr>
          <p:cNvPr id="12" name="tk-main-card">
            <a:extLst xmlns:a="http://schemas.openxmlformats.org/drawingml/2006/main">
              <a:ext uri="{FF2B5EF4-FFF2-40B4-BE49-F238E27FC236}">
                <a16:creationId xmlns:a16="http://schemas.microsoft.com/office/drawing/2014/main" id="{0A664AF3-6C98-484B-9036-5004EDAB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85950"/>
            <a:ext cx="3619500" cy="3257550"/>
          </a:xfrm>
          <a:prstGeom xmlns:a="http://schemas.openxmlformats.org/drawingml/2006/main" prst="roundRect">
            <a:avLst>
              <a:gd name="adj" fmla="val 2339"/>
            </a:avLst>
          </a:prstGeom>
          <a:solidFill xmlns:a="http://schemas.openxmlformats.org/drawingml/2006/main">
            <a:srgbClr val="E1F0D7"/>
          </a:solidFill>
          <a:ln xmlns:a="http://schemas.openxmlformats.org/drawingml/2006/main" w="19050">
            <a:solidFill>
              <a:srgbClr val="2F5EA8"/>
            </a:solidFill>
            <a:prstDash val="solid"/>
          </a:ln>
        </p:spPr>
      </p:sp>
      <p:sp>
        <p:nvSpPr>
          <p:cNvPr id="13" name="udp-title">
            <a:extLst xmlns:a="http://schemas.openxmlformats.org/drawingml/2006/main">
              <a:ext uri="{FF2B5EF4-FFF2-40B4-BE49-F238E27FC236}">
                <a16:creationId xmlns:a16="http://schemas.microsoft.com/office/drawing/2014/main" id="{2833BCC1-66D1-44E1-8487-36FF27FF1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0"/>
            <a:ext cx="274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B4D"/>
                </a:solidFill>
              </a:defRPr>
            </a:pPr>
            <a:r>
              <a:rPr sz="1800" b="1">
                <a:solidFill>
                  <a:srgbClr val="172B4D"/>
                </a:solidFill>
              </a:rPr>
              <a:t>① UDP 后台线程</a:t>
            </a:r>
          </a:p>
        </p:txBody>
      </p:sp>
      <p:sp>
        <p:nvSpPr>
          <p:cNvPr id="14" name="udp-body">
            <a:extLst xmlns:a="http://schemas.openxmlformats.org/drawingml/2006/main">
              <a:ext uri="{FF2B5EF4-FFF2-40B4-BE49-F238E27FC236}">
                <a16:creationId xmlns:a16="http://schemas.microsoft.com/office/drawing/2014/main" id="{6C20F5A2-7D75-4B77-8C80-2DE163AB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26289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3B59"/>
                </a:solidFill>
              </a:defRPr>
            </a:pPr>
            <a:r>
              <a:rPr sz="1425" b="0">
                <a:solidFill>
                  <a:srgbClr val="253B59"/>
                </a:solidFill>
              </a:rPr>
              <a:t>recvfrom() 接收</a:t>
            </a:r>
          </a:p>
          <a:p xmlns:a="http://schemas.openxmlformats.org/drawingml/2006/main">
            <a:pPr algn="ctr">
              <a:defRPr sz="1425" b="0">
                <a:solidFill>
                  <a:srgbClr val="253B59"/>
                </a:solidFill>
              </a:defRPr>
            </a:pPr>
            <a:r>
              <a:rPr sz="1425" b="0">
                <a:solidFill>
                  <a:srgbClr val="253B59"/>
                </a:solidFill>
              </a:rPr>
              <a:t>UTF-8 解码</a:t>
            </a:r>
          </a:p>
          <a:p xmlns:a="http://schemas.openxmlformats.org/drawingml/2006/main">
            <a:pPr algn="ctr">
              <a:defRPr sz="1425" b="0">
                <a:solidFill>
                  <a:srgbClr val="253B59"/>
                </a:solidFill>
              </a:defRPr>
            </a:pPr>
            <a:r>
              <a:rPr sz="1425" b="0">
                <a:solidFill>
                  <a:srgbClr val="253B59"/>
                </a:solidFill>
              </a:rPr>
              <a:t>JSON 解析与校验</a:t>
            </a:r>
          </a:p>
          <a:p xmlns:a="http://schemas.openxmlformats.org/drawingml/2006/main">
            <a:pPr algn="ctr">
              <a:defRPr sz="1425" b="0">
                <a:solidFill>
                  <a:srgbClr val="253B59"/>
                </a:solidFill>
              </a:defRPr>
            </a:pPr>
            <a:r>
              <a:rPr sz="1425" b="0">
                <a:solidFill>
                  <a:srgbClr val="253B59"/>
                </a:solidFill>
              </a:rPr>
              <a:t>封装不可变事件</a:t>
            </a:r>
          </a:p>
        </p:txBody>
      </p:sp>
      <p:sp>
        <p:nvSpPr>
          <p:cNvPr id="15" name="udp-guard">
            <a:extLst xmlns:a="http://schemas.openxmlformats.org/drawingml/2006/main">
              <a:ext uri="{FF2B5EF4-FFF2-40B4-BE49-F238E27FC236}">
                <a16:creationId xmlns:a16="http://schemas.microsoft.com/office/drawing/2014/main" id="{A427953E-7CF4-4792-A70D-6F804F92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590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B2AE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A33A35"/>
                </a:solidFill>
              </a:defRPr>
            </a:pPr>
            <a:r>
              <a:rPr sz="1238" b="1">
                <a:solidFill>
                  <a:srgbClr val="A33A35"/>
                </a:solidFill>
              </a:rPr>
              <a:t>不读取、不修改 Tk 控件</a:t>
            </a:r>
          </a:p>
        </p:txBody>
      </p:sp>
      <p:sp>
        <p:nvSpPr>
          <p:cNvPr id="16" name="queue-title">
            <a:extLst xmlns:a="http://schemas.openxmlformats.org/drawingml/2006/main">
              <a:ext uri="{FF2B5EF4-FFF2-40B4-BE49-F238E27FC236}">
                <a16:creationId xmlns:a16="http://schemas.microsoft.com/office/drawing/2014/main" id="{7F5C1F75-F5E3-4657-8DD7-67DB9340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76550"/>
            <a:ext cx="1866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B4D"/>
                </a:solidFill>
              </a:defRPr>
            </a:pPr>
            <a:r>
              <a:rPr sz="1725" b="1">
                <a:solidFill>
                  <a:srgbClr val="172B4D"/>
                </a:solidFill>
              </a:rPr>
              <a:t>② 有界 Queue</a:t>
            </a:r>
          </a:p>
        </p:txBody>
      </p:sp>
      <p:sp>
        <p:nvSpPr>
          <p:cNvPr id="17" name="queue-body">
            <a:extLst xmlns:a="http://schemas.openxmlformats.org/drawingml/2006/main">
              <a:ext uri="{FF2B5EF4-FFF2-40B4-BE49-F238E27FC236}">
                <a16:creationId xmlns:a16="http://schemas.microsoft.com/office/drawing/2014/main" id="{D54D2EF0-CB3D-40A4-A0C1-2244642F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352800"/>
            <a:ext cx="1866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313" b="0">
                <a:solidFill>
                  <a:srgbClr val="5B491A"/>
                </a:solidFill>
              </a:defRPr>
            </a:pPr>
            <a:r>
              <a:rPr sz="1313" b="0">
                <a:solidFill>
                  <a:srgbClr val="5B491A"/>
                </a:solidFill>
              </a:rPr>
              <a:t>线程安全交接</a:t>
            </a:r>
          </a:p>
          <a:p xmlns:a="http://schemas.openxmlformats.org/drawingml/2006/main">
            <a:pPr algn="ctr">
              <a:defRPr sz="1313" b="0">
                <a:solidFill>
                  <a:srgbClr val="5B491A"/>
                </a:solidFill>
              </a:defRPr>
            </a:pPr>
            <a:r>
              <a:rPr sz="1313" b="0">
                <a:solidFill>
                  <a:srgbClr val="5B491A"/>
                </a:solidFill>
              </a:rPr>
              <a:t>仅承载不可变事件</a:t>
            </a:r>
          </a:p>
        </p:txBody>
      </p:sp>
      <p:sp>
        <p:nvSpPr>
          <p:cNvPr id="18" name="tk-title">
            <a:extLst xmlns:a="http://schemas.openxmlformats.org/drawingml/2006/main">
              <a:ext uri="{FF2B5EF4-FFF2-40B4-BE49-F238E27FC236}">
                <a16:creationId xmlns:a16="http://schemas.microsoft.com/office/drawing/2014/main" id="{66D940A2-44E8-47B6-AA84-81F21299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114550"/>
            <a:ext cx="2971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B4D"/>
                </a:solidFill>
              </a:defRPr>
            </a:pPr>
            <a:r>
              <a:rPr sz="1800" b="1">
                <a:solidFill>
                  <a:srgbClr val="172B4D"/>
                </a:solidFill>
              </a:rPr>
              <a:t>③ Tk 主线程</a:t>
            </a:r>
          </a:p>
        </p:txBody>
      </p:sp>
      <p:sp>
        <p:nvSpPr>
          <p:cNvPr id="19" name="tk-body">
            <a:extLst xmlns:a="http://schemas.openxmlformats.org/drawingml/2006/main">
              <a:ext uri="{FF2B5EF4-FFF2-40B4-BE49-F238E27FC236}">
                <a16:creationId xmlns:a16="http://schemas.microsoft.com/office/drawing/2014/main" id="{05278F2D-0322-4BEE-A63A-8EB5EE50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67000"/>
            <a:ext cx="28956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9482A"/>
                </a:solidFill>
              </a:defRPr>
            </a:pPr>
            <a:r>
              <a:rPr sz="1425" b="0">
                <a:solidFill>
                  <a:srgbClr val="29482A"/>
                </a:solidFill>
              </a:rPr>
              <a:t>root.after() 周期取队列</a:t>
            </a:r>
          </a:p>
          <a:p xmlns:a="http://schemas.openxmlformats.org/drawingml/2006/main">
            <a:pPr algn="ctr">
              <a:defRPr sz="1425" b="0">
                <a:solidFill>
                  <a:srgbClr val="29482A"/>
                </a:solidFill>
              </a:defRPr>
            </a:pPr>
            <a:r>
              <a:rPr sz="1425" b="0">
                <a:solidFill>
                  <a:srgbClr val="29482A"/>
                </a:solidFill>
              </a:rPr>
              <a:t>按顺序处理事件</a:t>
            </a:r>
          </a:p>
          <a:p xmlns:a="http://schemas.openxmlformats.org/drawingml/2006/main">
            <a:pPr algn="ctr">
              <a:defRPr sz="1425" b="0">
                <a:solidFill>
                  <a:srgbClr val="29482A"/>
                </a:solidFill>
              </a:defRPr>
            </a:pPr>
            <a:r>
              <a:rPr sz="1425" b="0">
                <a:solidFill>
                  <a:srgbClr val="29482A"/>
                </a:solidFill>
              </a:rPr>
              <a:t>完整替换 state</a:t>
            </a:r>
          </a:p>
          <a:p xmlns:a="http://schemas.openxmlformats.org/drawingml/2006/main">
            <a:pPr algn="ctr">
              <a:defRPr sz="1425" b="0">
                <a:solidFill>
                  <a:srgbClr val="29482A"/>
                </a:solidFill>
              </a:defRPr>
            </a:pPr>
            <a:r>
              <a:rPr sz="1425" b="0">
                <a:solidFill>
                  <a:srgbClr val="29482A"/>
                </a:solidFill>
              </a:rPr>
              <a:t>Canvas / 控件渲染</a:t>
            </a:r>
          </a:p>
        </p:txBody>
      </p:sp>
      <p:sp>
        <p:nvSpPr>
          <p:cNvPr id="20" name="tk-guard">
            <a:extLst xmlns:a="http://schemas.openxmlformats.org/drawingml/2006/main">
              <a:ext uri="{FF2B5EF4-FFF2-40B4-BE49-F238E27FC236}">
                <a16:creationId xmlns:a16="http://schemas.microsoft.com/office/drawing/2014/main" id="{29BE6474-D050-496E-B90A-368E19BC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62450"/>
            <a:ext cx="2781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FD0B1"/>
            </a:solidFill>
            <a:prstDash val="solid"/>
          </a:ln>
        </p:spPr>
        <p:txBody>
          <a:bodyPr xmlns:a="http://schemas.openxmlformats.org/drawingml/2006/main" lIns="76200" tIns="47625" rIns="76200" bIns="47625" anchor="ctr"/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2C6A35"/>
                </a:solidFill>
              </a:defRPr>
            </a:pPr>
            <a:r>
              <a:rPr sz="1238" b="1">
                <a:solidFill>
                  <a:srgbClr val="2C6A35"/>
                </a:solidFill>
              </a:rPr>
              <a:t>唯一允许更新 Tk 的线程</a:t>
            </a:r>
          </a:p>
        </p:txBody>
      </p:sp>
      <p:sp>
        <p:nvSpPr>
          <p:cNvPr id="21" name="enqueue-label">
            <a:extLst xmlns:a="http://schemas.openxmlformats.org/drawingml/2006/main">
              <a:ext uri="{FF2B5EF4-FFF2-40B4-BE49-F238E27FC236}">
                <a16:creationId xmlns:a16="http://schemas.microsoft.com/office/drawing/2014/main" id="{38941716-0DD5-4E53-967F-6D119E6F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067050"/>
            <a:ext cx="95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ctr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4F6480"/>
                </a:solidFill>
              </a:defRPr>
            </a:pPr>
            <a:r>
              <a:rPr sz="1088" b="1">
                <a:solidFill>
                  <a:srgbClr val="4F6480"/>
                </a:solidFill>
              </a:rPr>
              <a:t>put(event)</a:t>
            </a:r>
          </a:p>
        </p:txBody>
      </p:sp>
      <p:sp>
        <p:nvSpPr>
          <p:cNvPr id="22" name="drain-label">
            <a:extLst xmlns:a="http://schemas.openxmlformats.org/drawingml/2006/main">
              <a:ext uri="{FF2B5EF4-FFF2-40B4-BE49-F238E27FC236}">
                <a16:creationId xmlns:a16="http://schemas.microsoft.com/office/drawing/2014/main" id="{68967288-8076-4D46-9ACD-10448A90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009900"/>
            <a:ext cx="990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ctr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4F6480"/>
                </a:solidFill>
              </a:defRPr>
            </a:pPr>
            <a:r>
              <a:rPr sz="1013" b="1">
                <a:solidFill>
                  <a:srgbClr val="4F6480"/>
                </a:solidFill>
              </a:rPr>
              <a:t>root.after()</a:t>
            </a:r>
          </a:p>
          <a:p xmlns:a="http://schemas.openxmlformats.org/drawingml/2006/main">
            <a:pPr algn="ctr">
              <a:defRPr sz="1013" b="1">
                <a:solidFill>
                  <a:srgbClr val="4F6480"/>
                </a:solidFill>
              </a:defRPr>
            </a:pPr>
            <a:r>
              <a:rPr sz="1013" b="1">
                <a:solidFill>
                  <a:srgbClr val="4F6480"/>
                </a:solidFill>
              </a:rPr>
              <a:t>取出</a:t>
            </a:r>
          </a:p>
        </p:txBody>
      </p:sp>
      <p:sp>
        <p:nvSpPr>
          <p:cNvPr id="23" name="boundary">
            <a:extLst xmlns:a="http://schemas.openxmlformats.org/drawingml/2006/main">
              <a:ext uri="{FF2B5EF4-FFF2-40B4-BE49-F238E27FC236}">
                <a16:creationId xmlns:a16="http://schemas.microsoft.com/office/drawing/2014/main" id="{921059A0-3CAE-4DBE-87E7-D71758E6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43550"/>
            <a:ext cx="93726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F7FB"/>
          </a:solidFill>
          <a:ln xmlns:a="http://schemas.openxmlformats.org/drawingml/2006/main" w="9525">
            <a:solidFill>
              <a:srgbClr val="C9D5E6"/>
            </a:solidFill>
            <a:prstDash val="solid"/>
          </a:ln>
        </p:spPr>
        <p:txBody>
          <a:bodyPr xmlns:a="http://schemas.openxmlformats.org/drawingml/2006/main" lIns="152400" tIns="47625" rIns="152400" bIns="47625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4B70"/>
                </a:solidFill>
              </a:defRPr>
            </a:pPr>
            <a:r>
              <a:rPr sz="1500" b="1">
                <a:solidFill>
                  <a:srgbClr val="2F4B70"/>
                </a:solidFill>
              </a:rPr>
              <a:t>线程安全边界：后台只做 I/O、解码和解析；Tk 主线程独占状态变换与 UI 更新</a:t>
            </a:r>
          </a:p>
        </p:txBody>
      </p:sp>
      <p:sp>
        <p:nvSpPr>
          <p:cNvPr id="24" name="footer">
            <a:extLst xmlns:a="http://schemas.openxmlformats.org/drawingml/2006/main">
              <a:ext uri="{FF2B5EF4-FFF2-40B4-BE49-F238E27FC236}">
                <a16:creationId xmlns:a16="http://schemas.microsoft.com/office/drawing/2014/main" id="{30FDC1F0-3E97-4595-A790-892F1A1D3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627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47625" rIns="0" bIns="47625" anchor="ctr"/>
          <a:lstStyle xmlns:a="http://schemas.openxmlformats.org/drawingml/2006/main"/>
          <a:p xmlns:a="http://schemas.openxmlformats.org/drawingml/2006/main">
            <a:pPr algn="ctr">
              <a:defRPr sz="1163" b="0">
                <a:solidFill>
                  <a:srgbClr val="6B7F95"/>
                </a:solidFill>
              </a:defRPr>
            </a:pPr>
            <a:r>
              <a:rPr sz="1163" b="0">
                <a:solidFill>
                  <a:srgbClr val="6B7F95"/>
                </a:solidFill>
              </a:rPr>
              <a:t>Queue 是唯一跨线程通道：事件可排队，Tk 控件不跨线程共享</a:t>
            </a:r>
          </a:p>
        </p:txBody>
      </p:sp>
    </p:spTree>
    <p:extLst>
      <p:ext uri="{BB962C8B-B14F-4D97-AF65-F5344CB8AC3E}">
        <p14:creationId xmlns:p14="http://schemas.microsoft.com/office/powerpoint/2010/main" val="681909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2026-07-13T06:30:36.5700000Z</dcterms:created>
  <dcterms:modified xsi:type="dcterms:W3CDTF">2026-07-13T06:30:36.5700000Z</dcterms:modified>
</coreProperties>
</file>