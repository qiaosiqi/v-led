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5fb6c5ea094f82" /><Relationship Type="http://schemas.openxmlformats.org/officeDocument/2006/relationships/extended-properties" Target="/docProps/app.xml" Id="R0e75133b0fd84ac3" /><Relationship Type="http://schemas.openxmlformats.org/officeDocument/2006/relationships/officeDocument" Target="/ppt/presentation.xml" Id="R8ae54d3e350343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2a5ca0337c4085"/>
  </p:sldMasterIdLst>
  <p:notesMasterIdLst>
    <p:notesMasterId xmlns:r="http://schemas.openxmlformats.org/officeDocument/2006/relationships" r:id="R31fe19f58c58495e"/>
  </p:notesMasterIdLst>
  <p:sldIdLst>
    <p:sldId xmlns:r="http://schemas.openxmlformats.org/officeDocument/2006/relationships" id="256" r:id="Racfa804e247b4f6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45afed63a14387" /><Relationship Type="http://schemas.openxmlformats.org/officeDocument/2006/relationships/slideMaster" Target="/ppt/slideMasters/slideMaster1.xml" Id="R712a5ca0337c4085" /><Relationship Type="http://schemas.openxmlformats.org/officeDocument/2006/relationships/notesMaster" Target="/ppt/notesMasters/notesMaster1.xml" Id="R31fe19f58c58495e" /><Relationship Type="http://schemas.openxmlformats.org/officeDocument/2006/relationships/presProps" Target="/ppt/presProps.xml" Id="R5bfcaea2657e4997" /><Relationship Type="http://schemas.openxmlformats.org/officeDocument/2006/relationships/tableStyles" Target="/ppt/tableStyles.xml" Id="Rf60f1ed703d64650" /><Relationship Type="http://schemas.openxmlformats.org/officeDocument/2006/relationships/slide" Target="/ppt/slides/slide1.xml" Id="Racfa804e247b4f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6afe18133546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b6453032e6416b" /><Relationship Type="http://schemas.openxmlformats.org/officeDocument/2006/relationships/notesMaster" Target="/ppt/notesMasters/notesMaster1.xml" Id="R9ba896efd8b648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d9116c96dd4c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30ab90bbe44a61" /><Relationship Type="http://schemas.openxmlformats.org/officeDocument/2006/relationships/slideLayout" Target="/ppt/slideLayouts/slideLayout1.xml" Id="Re06c1142150648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6c1142150648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6d6415cbc46e3" /><Relationship Type="http://schemas.openxmlformats.org/officeDocument/2006/relationships/notesSlide" Target="/ppt/notesSlides/notesSlide1.xml" Id="R238407b9be6441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7B44783E-51D5-4198-9339-F045A75C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57150" rIns="0" bIns="5715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B4D"/>
                </a:solidFill>
              </a:defRPr>
            </a:pPr>
            <a:r>
              <a:rPr sz="2550" b="1">
                <a:solidFill>
                  <a:srgbClr val="172B4D"/>
                </a:solidFill>
              </a:rPr>
              <a:t>write() 候选状态事务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B0F3CD3-B5E5-4A1E-A209-EA4012C4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57150" rIns="0" bIns="5715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607A"/>
                </a:solidFill>
              </a:defRPr>
            </a:pPr>
            <a:r>
              <a:rPr sz="1350" b="0">
                <a:solidFill>
                  <a:srgbClr val="4A607A"/>
                </a:solidFill>
              </a:rPr>
              <a:t>先在候选对象上验证；全部通过后，才在同一 mutex 内一次性发布。</a:t>
            </a:r>
          </a:p>
        </p:txBody>
      </p:sp>
      <p:sp>
        <p:nvSpPr>
          <p:cNvPr id="3" name="write-contract">
            <a:extLst xmlns:a="http://schemas.openxmlformats.org/drawingml/2006/main">
              <a:ext uri="{FF2B5EF4-FFF2-40B4-BE49-F238E27FC236}">
                <a16:creationId xmlns:a16="http://schemas.microsoft.com/office/drawing/2014/main" id="{3BD536B6-D92A-4654-BC1A-DADC8370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57200"/>
            <a:ext cx="2476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B8CAE3"/>
            </a:solidFill>
            <a:prstDash val="solid"/>
          </a:ln>
        </p:spPr>
        <p:txBody>
          <a:bodyPr xmlns:a="http://schemas.openxmlformats.org/drawingml/2006/main" lIns="114300" tIns="57150" rIns="11430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一次 write = 一条完整命令</a:t>
            </a:r>
          </a:p>
        </p:txBody>
      </p:sp>
      <p:sp>
        <p:nvSpPr>
          <p:cNvPr id="4" name="copy-candidate">
            <a:extLst xmlns:a="http://schemas.openxmlformats.org/drawingml/2006/main">
              <a:ext uri="{FF2B5EF4-FFF2-40B4-BE49-F238E27FC236}">
                <a16:creationId xmlns:a16="http://schemas.microsoft.com/office/drawing/2014/main" id="{F14F616C-5272-406A-A3C3-F60C146C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17526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1C9"/>
          </a:solidFill>
          <a:ln xmlns:a="http://schemas.openxmlformats.org/drawingml/2006/main" w="19050">
            <a:solidFill>
              <a:srgbClr val="2F5EA8"/>
            </a:solidFill>
            <a:prstDash val="solid"/>
          </a:ln>
        </p:spPr>
        <p:txBody>
          <a:bodyPr xmlns:a="http://schemas.openxmlformats.org/drawingml/2006/main" lIns="114300" tIns="57150" rIns="1143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① 复制当前状态</a:t>
            </a:r>
          </a:p>
          <a:p xmlns:a="http://schemas.openxmlformats.org/drawingml/2006/main">
            <a:pPr algn="ctr"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到 candidate</a:t>
            </a:r>
          </a:p>
        </p:txBody>
      </p:sp>
      <p:sp>
        <p:nvSpPr>
          <p:cNvPr id="5" name="parse-validate">
            <a:extLst xmlns:a="http://schemas.openxmlformats.org/drawingml/2006/main">
              <a:ext uri="{FF2B5EF4-FFF2-40B4-BE49-F238E27FC236}">
                <a16:creationId xmlns:a16="http://schemas.microsoft.com/office/drawing/2014/main" id="{1F4CA838-0338-4D18-B4CE-EC55983E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14550"/>
            <a:ext cx="2095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19050">
            <a:solidFill>
              <a:srgbClr val="2F5EA8"/>
            </a:solidFill>
            <a:prstDash val="solid"/>
          </a:ln>
        </p:spPr>
        <p:txBody>
          <a:bodyPr xmlns:a="http://schemas.openxmlformats.org/drawingml/2006/main" lIns="114300" tIns="57150" rIns="114300" bIns="5715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② 解析与范围校验</a:t>
            </a:r>
          </a:p>
          <a:p xmlns:a="http://schemas.openxmlformats.org/drawingml/2006/main">
            <a:pPr algn="ctr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仅修改 candidate</a:t>
            </a:r>
          </a:p>
          <a:p xmlns:a="http://schemas.openxmlformats.org/drawingml/2006/main">
            <a:pPr algn="ctr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返回 changed</a:t>
            </a:r>
          </a:p>
        </p:txBody>
      </p:sp>
      <p:sp>
        <p:nvSpPr>
          <p:cNvPr id="6" name="serialize-fit">
            <a:extLst xmlns:a="http://schemas.openxmlformats.org/drawingml/2006/main">
              <a:ext uri="{FF2B5EF4-FFF2-40B4-BE49-F238E27FC236}">
                <a16:creationId xmlns:a16="http://schemas.microsoft.com/office/drawing/2014/main" id="{E1AD9830-ABAA-4E4C-8D10-7942148F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14550"/>
            <a:ext cx="2000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1F0D7"/>
          </a:solidFill>
          <a:ln xmlns:a="http://schemas.openxmlformats.org/drawingml/2006/main" w="19050">
            <a:solidFill>
              <a:srgbClr val="2F5EA8"/>
            </a:solidFill>
            <a:prstDash val="solid"/>
          </a:ln>
        </p:spPr>
        <p:txBody>
          <a:bodyPr xmlns:a="http://schemas.openxmlformats.org/drawingml/2006/main" lIns="114300" tIns="57150" rIns="114300" bIns="5715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③ 序列化候选 JSON</a:t>
            </a:r>
          </a:p>
          <a:p xmlns:a="http://schemas.openxmlformats.org/drawingml/2006/main">
            <a:pPr algn="ctr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确认完整装入</a:t>
            </a:r>
          </a:p>
          <a:p xmlns:a="http://schemas.openxmlformats.org/drawingml/2006/main">
            <a:pPr algn="ctr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PAGE_SIZE</a:t>
            </a:r>
          </a:p>
        </p:txBody>
      </p:sp>
      <p:sp>
        <p:nvSpPr>
          <p:cNvPr id="7" name="atomic-commit">
            <a:extLst xmlns:a="http://schemas.openxmlformats.org/drawingml/2006/main">
              <a:ext uri="{FF2B5EF4-FFF2-40B4-BE49-F238E27FC236}">
                <a16:creationId xmlns:a16="http://schemas.microsoft.com/office/drawing/2014/main" id="{72DA5ED0-8BC6-4711-ABCC-2E06D2D4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2571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CE3D5"/>
          </a:solidFill>
          <a:ln xmlns:a="http://schemas.openxmlformats.org/drawingml/2006/main" w="19050">
            <a:solidFill>
              <a:srgbClr val="2F5EA8"/>
            </a:solidFill>
            <a:prstDash val="solid"/>
          </a:ln>
        </p:spPr>
        <p:txBody>
          <a:bodyPr xmlns:a="http://schemas.openxmlformats.org/drawingml/2006/main" lIns="114300" tIns="57150" rIns="114300" bIns="57150" anchor="ctr"/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172B4D"/>
                </a:solidFill>
              </a:defRPr>
            </a:pPr>
            <a:r>
              <a:rPr sz="1313" b="0">
                <a:solidFill>
                  <a:srgbClr val="172B4D"/>
                </a:solidFill>
              </a:rPr>
              <a:t>④ 同一 mutex 内原子提交</a:t>
            </a:r>
          </a:p>
          <a:p xmlns:a="http://schemas.openxmlformats.org/drawingml/2006/main">
            <a:pPr algn="ctr">
              <a:defRPr sz="1313" b="0">
                <a:solidFill>
                  <a:srgbClr val="172B4D"/>
                </a:solidFill>
              </a:defRPr>
            </a:pPr>
            <a:r>
              <a:rPr sz="1313" b="0">
                <a:solidFill>
                  <a:srgbClr val="172B4D"/>
                </a:solidFill>
              </a:rPr>
              <a:t>state · buffer · buffer_len</a:t>
            </a:r>
          </a:p>
          <a:p xmlns:a="http://schemas.openxmlformats.org/drawingml/2006/main">
            <a:pPr algn="ctr">
              <a:defRPr sz="1313" b="0">
                <a:solidFill>
                  <a:srgbClr val="172B4D"/>
                </a:solidFill>
              </a:defRPr>
            </a:pPr>
            <a:r>
              <a:rPr sz="1313" b="0">
                <a:solidFill>
                  <a:srgbClr val="172B4D"/>
                </a:solidFill>
              </a:rPr>
              <a:t>当前 FD 的读刷新标志</a:t>
            </a:r>
          </a:p>
        </p:txBody>
      </p:sp>
      <p:sp>
        <p:nvSpPr>
          <p:cNvPr id="8" name="version-wakeup">
            <a:extLst xmlns:a="http://schemas.openxmlformats.org/drawingml/2006/main">
              <a:ext uri="{FF2B5EF4-FFF2-40B4-BE49-F238E27FC236}">
                <a16:creationId xmlns:a16="http://schemas.microsoft.com/office/drawing/2014/main" id="{67D0AE21-7CE0-4094-9C6E-95A1AFA9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114550"/>
            <a:ext cx="14859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6E2F4"/>
          </a:solidFill>
          <a:ln xmlns:a="http://schemas.openxmlformats.org/drawingml/2006/main" w="19050">
            <a:solidFill>
              <a:srgbClr val="2F5EA8"/>
            </a:solidFill>
            <a:prstDash val="solid"/>
          </a:ln>
        </p:spPr>
        <p:txBody>
          <a:bodyPr xmlns:a="http://schemas.openxmlformats.org/drawingml/2006/main" lIns="114300" tIns="57150" rIns="114300" bIns="57150" anchor="ctr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72B4D"/>
                </a:solidFill>
              </a:defRPr>
            </a:pPr>
            <a:r>
              <a:rPr sz="1163" b="0">
                <a:solidFill>
                  <a:srgbClr val="172B4D"/>
                </a:solidFill>
              </a:rPr>
              <a:t>⑤ changed=true</a:t>
            </a:r>
          </a:p>
          <a:p xmlns:a="http://schemas.openxmlformats.org/drawingml/2006/main">
            <a:pPr algn="ctr">
              <a:defRPr sz="1163" b="0">
                <a:solidFill>
                  <a:srgbClr val="172B4D"/>
                </a:solidFill>
              </a:defRPr>
            </a:pPr>
            <a:r>
              <a:rPr sz="1163" b="0">
                <a:solidFill>
                  <a:srgbClr val="172B4D"/>
                </a:solidFill>
              </a:rPr>
              <a:t>version++ 并唤醒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63" b="0">
                <a:solidFill>
                  <a:srgbClr val="172B4D"/>
                </a:solidFill>
              </a:defRPr>
            </a:pPr>
            <a:r>
              <a:rPr sz="1163" b="0">
                <a:solidFill>
                  <a:srgbClr val="172B4D"/>
                </a:solidFill>
              </a:rPr>
              <a:t>changed=false</a:t>
            </a:r>
          </a:p>
          <a:p xmlns:a="http://schemas.openxmlformats.org/drawingml/2006/main">
            <a:pPr algn="ctr">
              <a:defRPr sz="1163" b="0">
                <a:solidFill>
                  <a:srgbClr val="172B4D"/>
                </a:solidFill>
              </a:defRPr>
            </a:pPr>
            <a:r>
              <a:rPr sz="1163" b="0">
                <a:solidFill>
                  <a:srgbClr val="172B4D"/>
                </a:solidFill>
              </a:rPr>
              <a:t>version 不变</a:t>
            </a:r>
          </a:p>
          <a:p xmlns:a="http://schemas.openxmlformats.org/drawingml/2006/main">
            <a:pPr algn="ctr">
              <a:defRPr sz="1163" b="0">
                <a:solidFill>
                  <a:srgbClr val="172B4D"/>
                </a:solidFill>
              </a:defRPr>
            </a:pPr>
            <a:r>
              <a:rPr sz="1163" b="0">
                <a:solidFill>
                  <a:srgbClr val="172B4D"/>
                </a:solidFill>
              </a:rPr>
              <a:t>不唤醒</a:t>
            </a:r>
          </a:p>
        </p:txBody>
      </p: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209800" y="27908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F5EA8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648200" y="27908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F5EA8"/>
            </a:solidFill>
            <a:prstDash val="solid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991350" y="27908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F5EA8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906000" y="27908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F5EA8"/>
            </a:solidFill>
            <a:prstDash val="solid"/>
            <a:tailEnd type="triangle" w="sm" len="sm"/>
          </a:ln>
        </p:spPr>
      </p:cxnSp>
      <p:sp>
        <p:nvSpPr>
          <p:cNvPr id="13" name="rollback">
            <a:extLst xmlns:a="http://schemas.openxmlformats.org/drawingml/2006/main">
              <a:ext uri="{FF2B5EF4-FFF2-40B4-BE49-F238E27FC236}">
                <a16:creationId xmlns:a16="http://schemas.microsoft.com/office/drawing/2014/main" id="{DD30C3C2-884F-4C75-B6D9-1CCACBBF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67250"/>
            <a:ext cx="4953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D7D5"/>
          </a:solidFill>
          <a:ln xmlns:a="http://schemas.openxmlformats.org/drawingml/2006/main" w="19050">
            <a:solidFill>
              <a:srgbClr val="2F5EA8"/>
            </a:solidFill>
            <a:prstDash val="solid"/>
          </a:ln>
        </p:spPr>
        <p:txBody>
          <a:bodyPr xmlns:a="http://schemas.openxmlformats.org/drawingml/2006/main" lIns="114300" tIns="57150" rIns="114300" bIns="57150" anchor="ctr"/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172B4D"/>
                </a:solidFill>
              </a:defRPr>
            </a:pPr>
            <a:r>
              <a:rPr sz="1313" b="0">
                <a:solidFill>
                  <a:srgbClr val="172B4D"/>
                </a:solidFill>
              </a:rPr>
              <a:t>任一失败：撤销本次 write</a:t>
            </a:r>
          </a:p>
          <a:p xmlns:a="http://schemas.openxmlformats.org/drawingml/2006/main">
            <a:pPr algn="ctr">
              <a:defRPr sz="1313" b="0">
                <a:solidFill>
                  <a:srgbClr val="172B4D"/>
                </a:solidFill>
              </a:defRPr>
            </a:pPr>
            <a:r>
              <a:rPr sz="1313" b="0">
                <a:solidFill>
                  <a:srgbClr val="172B4D"/>
                </a:solidFill>
              </a:rPr>
              <a:t>清除暂存片段；state / buffer / buffer_len / version / 各 FD 快照均保持旧值</a:t>
            </a:r>
          </a:p>
        </p:txBody>
      </p:sp>
      <p:cxnSp>
        <p:nvCxnSpPr>
          <p:cNvPr id="33" name=""/>
          <p:cNvCxnSpPr>
            <a:stCxn xmlns:a="http://schemas.openxmlformats.org/drawingml/2006/main" id="5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600450" y="3467100"/>
            <a:ext cx="1733550" cy="1200150"/>
          </a:xfrm>
          <a:prstGeom xmlns:a="http://schemas.openxmlformats.org/drawingml/2006/main" prst="bentConnector4">
            <a:avLst>
              <a:gd name="adj1" fmla="val 0"/>
              <a:gd name="adj2" fmla="val 19048"/>
            </a:avLst>
          </a:prstGeom>
          <a:ln xmlns:a="http://schemas.openxmlformats.org/drawingml/2006/main" w="23813">
            <a:solidFill>
              <a:srgbClr val="2F5EA8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6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5334000" y="3467100"/>
            <a:ext cx="657225" cy="1200150"/>
          </a:xfrm>
          <a:prstGeom xmlns:a="http://schemas.openxmlformats.org/drawingml/2006/main" prst="bentConnector4">
            <a:avLst>
              <a:gd name="adj1" fmla="val 0"/>
              <a:gd name="adj2" fmla="val 19048"/>
            </a:avLst>
          </a:prstGeom>
          <a:ln xmlns:a="http://schemas.openxmlformats.org/drawingml/2006/main" w="23813">
            <a:solidFill>
              <a:srgbClr val="2F5EA8"/>
            </a:solidFill>
            <a:prstDash val="solid"/>
            <a:tailEnd type="triangle" w="sm" len="sm"/>
          </a:ln>
        </p:spPr>
      </p:cxnSp>
      <p:sp>
        <p:nvSpPr>
          <p:cNvPr id="16" name="invalid-label">
            <a:extLst xmlns:a="http://schemas.openxmlformats.org/drawingml/2006/main">
              <a:ext uri="{FF2B5EF4-FFF2-40B4-BE49-F238E27FC236}">
                <a16:creationId xmlns:a16="http://schemas.microsoft.com/office/drawing/2014/main" id="{413C18D2-A81D-457F-85EB-FF60E7E3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867150"/>
            <a:ext cx="1066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B9B5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33A35"/>
                </a:solidFill>
              </a:defRPr>
            </a:pPr>
            <a:r>
              <a:rPr sz="1125" b="1">
                <a:solidFill>
                  <a:srgbClr val="A33A35"/>
                </a:solidFill>
              </a:rPr>
              <a:t>命令非法</a:t>
            </a:r>
          </a:p>
        </p:txBody>
      </p:sp>
      <p:sp>
        <p:nvSpPr>
          <p:cNvPr id="17" name="overflow-label">
            <a:extLst xmlns:a="http://schemas.openxmlformats.org/drawingml/2006/main">
              <a:ext uri="{FF2B5EF4-FFF2-40B4-BE49-F238E27FC236}">
                <a16:creationId xmlns:a16="http://schemas.microsoft.com/office/drawing/2014/main" id="{D961E26E-3425-410B-8731-28D5A645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67150"/>
            <a:ext cx="138112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B9B5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A33A35"/>
                </a:solidFill>
              </a:defRPr>
            </a:pPr>
            <a:r>
              <a:rPr sz="1088" b="1">
                <a:solidFill>
                  <a:srgbClr val="A33A35"/>
                </a:solidFill>
              </a:rPr>
              <a:t>JSON &gt; PAGE_SIZE</a:t>
            </a:r>
          </a:p>
        </p:txBody>
      </p:sp>
      <p:sp>
        <p:nvSpPr>
          <p:cNvPr id="18" name="version-note">
            <a:extLst xmlns:a="http://schemas.openxmlformats.org/drawingml/2006/main">
              <a:ext uri="{FF2B5EF4-FFF2-40B4-BE49-F238E27FC236}">
                <a16:creationId xmlns:a16="http://schemas.microsoft.com/office/drawing/2014/main" id="{8D80C2FE-2BEC-493F-87D9-90A5DB23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62500"/>
            <a:ext cx="33147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C9D5E6"/>
            </a:solidFill>
            <a:prstDash val="solid"/>
          </a:ln>
        </p:spPr>
        <p:txBody>
          <a:bodyPr xmlns:a="http://schemas.openxmlformats.org/drawingml/2006/main" lIns="133350" tIns="57150" rIns="13335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4B70"/>
                </a:solidFill>
              </a:defRPr>
            </a:pPr>
            <a:r>
              <a:rPr sz="1500" b="1">
                <a:solidFill>
                  <a:srgbClr val="2F4B70"/>
                </a:solidFill>
              </a:rPr>
              <a:t>version 表示业务状态修订</a:t>
            </a:r>
          </a:p>
          <a:p xmlns:a="http://schemas.openxmlformats.org/drawingml/2006/main">
            <a:pPr algn="ctr">
              <a:defRPr sz="1500" b="1">
                <a:solidFill>
                  <a:srgbClr val="2F4B70"/>
                </a:solidFill>
              </a:defRPr>
            </a:pPr>
            <a:r>
              <a:rPr sz="1500" b="1">
                <a:solidFill>
                  <a:srgbClr val="2F4B70"/>
                </a:solidFill>
              </a:rPr>
              <a:t>不是 write() 系统调用计数</a:t>
            </a:r>
          </a:p>
        </p:txBody>
      </p:sp>
      <p:sp>
        <p:nvSpPr>
          <p:cNvPr id="19" name="footer">
            <a:extLst xmlns:a="http://schemas.openxmlformats.org/drawingml/2006/main">
              <a:ext uri="{FF2B5EF4-FFF2-40B4-BE49-F238E27FC236}">
                <a16:creationId xmlns:a16="http://schemas.microsoft.com/office/drawing/2014/main" id="{A870EA0D-965C-47B1-9195-C031BE3E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11201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57150" rIns="0" bIns="5715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F87"/>
                </a:solidFill>
              </a:defRPr>
            </a:pPr>
            <a:r>
              <a:rPr sz="1200" b="0">
                <a:solidFill>
                  <a:srgbClr val="5B6F87"/>
                </a:solidFill>
              </a:rPr>
              <a:t>提交条件 = 命令合法 ∧ 候选 JSON 完整装入 PAGE_SIZE</a:t>
            </a:r>
          </a:p>
        </p:txBody>
      </p:sp>
    </p:spTree>
    <p:extLst>
      <p:ext uri="{BB962C8B-B14F-4D97-AF65-F5344CB8AC3E}">
        <p14:creationId xmlns:p14="http://schemas.microsoft.com/office/powerpoint/2010/main" val="16861455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2026-07-13T06:08:41.1330000Z</dcterms:created>
  <dcterms:modified xsi:type="dcterms:W3CDTF">2026-07-13T06:08:41.1330000Z</dcterms:modified>
</coreProperties>
</file>